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7b99cdf0af407d" /><Relationship Type="http://schemas.openxmlformats.org/officeDocument/2006/relationships/extended-properties" Target="/docProps/app.xml" Id="R31878c3660564916" /><Relationship Type="http://schemas.openxmlformats.org/officeDocument/2006/relationships/officeDocument" Target="/ppt/presentation.xml" Id="R2992ac664e5540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63cb023880411c"/>
  </p:sldMasterIdLst>
  <p:notesMasterIdLst>
    <p:notesMasterId xmlns:r="http://schemas.openxmlformats.org/officeDocument/2006/relationships" r:id="R00cb0b41ac0342f2"/>
  </p:notesMasterIdLst>
  <p:sldIdLst>
    <p:sldId xmlns:r="http://schemas.openxmlformats.org/officeDocument/2006/relationships" id="256" r:id="R84ccdec434544fc7"/>
    <p:sldId xmlns:r="http://schemas.openxmlformats.org/officeDocument/2006/relationships" id="257" r:id="Rd0c1cea0e98d4228"/>
    <p:sldId xmlns:r="http://schemas.openxmlformats.org/officeDocument/2006/relationships" id="258" r:id="Ra73d6df48bf6412a"/>
    <p:sldId xmlns:r="http://schemas.openxmlformats.org/officeDocument/2006/relationships" id="259" r:id="R1a02b8bc0f5a4a30"/>
    <p:sldId xmlns:r="http://schemas.openxmlformats.org/officeDocument/2006/relationships" id="260" r:id="R3de537ef662644a8"/>
    <p:sldId xmlns:r="http://schemas.openxmlformats.org/officeDocument/2006/relationships" id="261" r:id="Rad0d738bd6664b68"/>
    <p:sldId xmlns:r="http://schemas.openxmlformats.org/officeDocument/2006/relationships" id="262" r:id="R066b7364ba38475f"/>
    <p:sldId xmlns:r="http://schemas.openxmlformats.org/officeDocument/2006/relationships" id="263" r:id="R229b1a52006e47a7"/>
    <p:sldId xmlns:r="http://schemas.openxmlformats.org/officeDocument/2006/relationships" id="264" r:id="R284d5bd0109149b5"/>
    <p:sldId xmlns:r="http://schemas.openxmlformats.org/officeDocument/2006/relationships" id="265" r:id="R10820a90c7a346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80bcdd50c84b89" /><Relationship Type="http://schemas.openxmlformats.org/officeDocument/2006/relationships/slideMaster" Target="/ppt/slideMasters/slideMaster1.xml" Id="Rd163cb023880411c" /><Relationship Type="http://schemas.openxmlformats.org/officeDocument/2006/relationships/notesMaster" Target="/ppt/notesMasters/notesMaster1.xml" Id="R00cb0b41ac0342f2" /><Relationship Type="http://schemas.openxmlformats.org/officeDocument/2006/relationships/presProps" Target="/ppt/presProps.xml" Id="R768318af9ba541b4" /><Relationship Type="http://schemas.openxmlformats.org/officeDocument/2006/relationships/tableStyles" Target="/ppt/tableStyles.xml" Id="R9665c9c32e0f44bd" /><Relationship Type="http://schemas.openxmlformats.org/officeDocument/2006/relationships/slide" Target="/ppt/slides/slide1.xml" Id="R84ccdec434544fc7" /><Relationship Type="http://schemas.openxmlformats.org/officeDocument/2006/relationships/slide" Target="/ppt/slides/slide2.xml" Id="Rd0c1cea0e98d4228" /><Relationship Type="http://schemas.openxmlformats.org/officeDocument/2006/relationships/slide" Target="/ppt/slides/slide3.xml" Id="Ra73d6df48bf6412a" /><Relationship Type="http://schemas.openxmlformats.org/officeDocument/2006/relationships/slide" Target="/ppt/slides/slide4.xml" Id="R1a02b8bc0f5a4a30" /><Relationship Type="http://schemas.openxmlformats.org/officeDocument/2006/relationships/slide" Target="/ppt/slides/slide5.xml" Id="R3de537ef662644a8" /><Relationship Type="http://schemas.openxmlformats.org/officeDocument/2006/relationships/slide" Target="/ppt/slides/slide6.xml" Id="Rad0d738bd6664b68" /><Relationship Type="http://schemas.openxmlformats.org/officeDocument/2006/relationships/slide" Target="/ppt/slides/slide7.xml" Id="R066b7364ba38475f" /><Relationship Type="http://schemas.openxmlformats.org/officeDocument/2006/relationships/slide" Target="/ppt/slides/slide8.xml" Id="R229b1a52006e47a7" /><Relationship Type="http://schemas.openxmlformats.org/officeDocument/2006/relationships/slide" Target="/ppt/slides/slide9.xml" Id="R284d5bd0109149b5" /><Relationship Type="http://schemas.openxmlformats.org/officeDocument/2006/relationships/slide" Target="/ppt/slides/slide10.xml" Id="R10820a90c7a346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40b64a32554d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c442294d794f31" /><Relationship Type="http://schemas.openxmlformats.org/officeDocument/2006/relationships/notesMaster" Target="/ppt/notesMasters/notesMaster1.xml" Id="R49a58d57d1074a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a57be0f8294fd7" /><Relationship Type="http://schemas.openxmlformats.org/officeDocument/2006/relationships/notesMaster" Target="/ppt/notesMasters/notesMaster1.xml" Id="Rf8b0bb5252124f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152f99968341e0" /><Relationship Type="http://schemas.openxmlformats.org/officeDocument/2006/relationships/notesMaster" Target="/ppt/notesMasters/notesMaster1.xml" Id="Rfe2be632bedb4e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548c1b450c4ef9" /><Relationship Type="http://schemas.openxmlformats.org/officeDocument/2006/relationships/notesMaster" Target="/ppt/notesMasters/notesMaster1.xml" Id="Re3ce1f8e954b42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677cb91fa64181" /><Relationship Type="http://schemas.openxmlformats.org/officeDocument/2006/relationships/notesMaster" Target="/ppt/notesMasters/notesMaster1.xml" Id="Ree31c1555e7d4b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c7add587434c6e" /><Relationship Type="http://schemas.openxmlformats.org/officeDocument/2006/relationships/notesMaster" Target="/ppt/notesMasters/notesMaster1.xml" Id="Rfcdd7ffa0d4341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dcd12b9d364aae" /><Relationship Type="http://schemas.openxmlformats.org/officeDocument/2006/relationships/notesMaster" Target="/ppt/notesMasters/notesMaster1.xml" Id="R44cd034ea0714f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259a2125d94973" /><Relationship Type="http://schemas.openxmlformats.org/officeDocument/2006/relationships/notesMaster" Target="/ppt/notesMasters/notesMaster1.xml" Id="Re7b6342a65d14c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4902c4aaed4ac7" /><Relationship Type="http://schemas.openxmlformats.org/officeDocument/2006/relationships/notesMaster" Target="/ppt/notesMasters/notesMaster1.xml" Id="Rbbfb2aa6120249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8a5b143bf3445d" /><Relationship Type="http://schemas.openxmlformats.org/officeDocument/2006/relationships/notesMaster" Target="/ppt/notesMasters/notesMaster1.xml" Id="R71df4bf01d8649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ALEX - 40 segundos. Boa tarde. Nosso projeto é o Sistema Escolar, desenvolvido em Java com Spring Boot, PostgreSQL e uma interface web. A equipe é formada por Alex de Souza Oliveira, Eduarda Paes de Barros, Antonio Vinicius de Vasconcelos Paixão e Filipe de Carvalho Teotônio. Durante a apresentação, mostraremos o problema, o modelo de classes, a arquitetura, os testes, as dificuldades e uma demonstração do sistema.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ALEX - 1 minuto e 10 segundos. O problema que escolhemos foi a dispersão das informações escolares, que dificulta cadastrar, consultar e atualizar os registros acadêmicos. O objetivo foi centralizar esses dados em uma aplicação única. O sistema trabalha com seis recursos: alunos, professores, disciplinas, turmas, matrículas e notas. Cada recurso possui operações de cadastro, consulta, atualização e remoção. A turma reúne uma disciplina e um professor responsável. A matrícula liga um aluno a uma turma. Por fim, a nota pertence a uma matrícula, o que permite identificar simultaneamente o aluno e a turma avaliados. Agora a Eduarda apresentará como essas relações aparecem no modelo de classes.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EDUARDA - 1 minuto e 10 segundos. O diagrama apresenta o domínio do sistema. Pessoa é uma classe abstrata que reúne os dados comuns. Aluno e Professor especializam Pessoa. Disciplina representa o componente curricular. Turma associa uma disciplina a um professor responsável. Matrícula registra a participação de um aluno em uma turma. Nota referencia a matrícula e armazena o valor da avaliação. Assim, as quatro associações destacadas no slide aparecem no código e também no banco de dados: professor com turma, turma com disciplina, aluno com matrícula e turma, e matrícula com nota.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EDUARDA - 1 minuto. Aplicamos os principais conceitos de orientação a objetos. A herança aparece porque Aluno e Professor estendem Pessoa e reaproveitam seus atributos. O polimorfismo aparece no método exibirDados, implementado de maneira específica em cada classe filha. O encapsulamento mantém os atributos privados e controla o acesso por métodos. As associações são mapeadas com JPA, como a referência de Turma para Disciplina e Professor. Por fim, os repositórios são interfaces que estendem JpaRepository, reduzindo código repetitivo de persistência. Passo agora para Antonio, que explicará a arquitetura.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ANTONIO - 1 minuto. A arquitetura segue camadas. O cliente pode ser o site, o Postman ou o Insomnia. Ele envia requisições HTTP em JSON. Os controllers recebem essas requisições e os DTOs definem e validam os dados de entrada. Os serviços concentram as regras e coordenam as operações. Os repositórios JPA conversam com o Hibernate, que persiste os dados no PostgreSQL. O ControllerAdvice trata as exceções em um único lugar e devolve respostas padronizadas: 400 para dados inválidos, 404 quando o recurso não existe e 409 em conflitos de integridade.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ANTONIO - 1 minuto. O contrato HTTP usa 200 nas consultas e atualizações, 201 na criação e 204 na exclusão. Entre as falhas previstas estão 400, 404 e 409, conforme explicado no slide anterior. Executamos quinze testes automatizados com resultado aprovado. O projeto possui sete repositórios JPA, incluindo os de matrícula e nota. Também preparamos uma coleção do Postman. A interface web consome os mesmos seis conjuntos de endpoints testados pelo MockMvc: alunos, professores, disciplinas, turmas, matrículas e notas.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ANTONIO - 50 segundos. As dificuldades também orientaram decisões técnicas. Quando a porta 8080 ficou ocupada, encerramos a execução anterior antes de iniciar outra. O erro 400 no POST foi resolvido configurando Content-Type como application/json. Para a integração com o banco, verificamos serviço, credenciais e logs do HikariCP. Identificamos ainda que ddl-auto create recria as tabelas e apaga dados ao reiniciar, por isso migrations são uma melhoria futura. Por fim, o ControllerAdvice eliminou respostas de erro inconsistentes. Agora o Filipe conduzirá a demonstração.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FILIPE - 1 minuto e 30 segundos. Na demonstração, primeiro abrimos o endereço localhost na porta 8080. Depois cadastramos uma disciplina, um professor e um aluno, formando a base acadêmica. Em seguida criamos a turma, informando os identificadores da disciplina e do professor responsável. Realizamos a matrícula com alunoId e turmaId. Depois registramos uma nota entre zero e dez para essa matrícula. As listagens permitem confirmar cada registro. Para encerrar, tentamos salvar uma nota maior que dez e mostramos a resposta de validação, comprovando que a API protege a regra do domínio.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FILIPE - 1 minuto. Como resultado, entregamos uma interface web e uma API CRUD para os seis recursos, conectadas ao PostgreSQL, com validação e testes. Entre os próximos passos estão completar a edição pela interface, versionar o banco com migrations, retirar credenciais fixas, adicionar autenticação e documentar a API com OpenAPI. Os principais aprendizados foram modelagem orientada a objetos, arquitetura em camadas, contratos HTTP, persistência e diagnóstico por logs. Ainda apresentaremos a divisão das responsabilidades antes da conclusão.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FILIPE - 40 segundos. Esta divisão garantiu a participação ativa dos quatro integrantes. Alex apresentou a equipe, o problema e o objetivo. Eduarda explicou o modelo de classes e os conceitos de orientação a objetos. Antonio apresentou a arquitetura, a API, os testes e as dificuldades. Eu conduzi a demonstração, os resultados e este encerramento. Concluímos que o sistema atende ao objetivo de centralizar a gestão acadêmica e demonstra os requisitos técnicos do projeto. Obrigado. Agora ficamos à disposição para perguntas. Tempo total planejado: 10 minutos.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30071769943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57f8a7a66e490a" /><Relationship Type="http://schemas.openxmlformats.org/officeDocument/2006/relationships/slideLayout" Target="/ppt/slideLayouts/slideLayout1.xml" Id="R52cf6fdac88040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cf6fdac88040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df7eba672409e" /><Relationship Type="http://schemas.openxmlformats.org/officeDocument/2006/relationships/notesSlide" Target="/ppt/notesSlides/notesSlide1.xml" Id="R0950189118654a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e5f66efd8490e" /><Relationship Type="http://schemas.openxmlformats.org/officeDocument/2006/relationships/notesSlide" Target="/ppt/notesSlides/notesSlide2.xml" Id="Rc58287a524da4a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c8a9955ae443d" /><Relationship Type="http://schemas.openxmlformats.org/officeDocument/2006/relationships/image" Target="/ppt/media/image.png" Id="R944a8df79414465e" /><Relationship Type="http://schemas.openxmlformats.org/officeDocument/2006/relationships/notesSlide" Target="/ppt/notesSlides/notesSlide3.xml" Id="Rbecfa8342e3242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14079b9f44f68" /><Relationship Type="http://schemas.openxmlformats.org/officeDocument/2006/relationships/notesSlide" Target="/ppt/notesSlides/notesSlide4.xml" Id="R6a0b2dc24b354a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6ee20fb004d7b" /><Relationship Type="http://schemas.openxmlformats.org/officeDocument/2006/relationships/notesSlide" Target="/ppt/notesSlides/notesSlide5.xml" Id="R28d3667ce0464d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a117adfec4526" /><Relationship Type="http://schemas.openxmlformats.org/officeDocument/2006/relationships/notesSlide" Target="/ppt/notesSlides/notesSlide6.xml" Id="Rf3a77923c8514d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51ce13b1e4023" /><Relationship Type="http://schemas.openxmlformats.org/officeDocument/2006/relationships/notesSlide" Target="/ppt/notesSlides/notesSlide7.xml" Id="R4df42be9aa1d46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cb1d6f91e4ad0" /><Relationship Type="http://schemas.openxmlformats.org/officeDocument/2006/relationships/notesSlide" Target="/ppt/notesSlides/notesSlide8.xml" Id="Rb0a5b73405764e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068a9486c4639" /><Relationship Type="http://schemas.openxmlformats.org/officeDocument/2006/relationships/notesSlide" Target="/ppt/notesSlides/notesSlide9.xml" Id="R118c78cabb7349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790de15014738" /><Relationship Type="http://schemas.openxmlformats.org/officeDocument/2006/relationships/notesSlide" Target="/ppt/notesSlides/notesSlide10.xml" Id="Rc608b12ee60440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656D2-665F-4A81-954E-B91E78B9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19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SISTEMA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DC1F8-3A51-4CDD-A565-BBB2E348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FE5F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FE5F0"/>
                </a:solidFill>
                <a:latin typeface="Arial"/>
                <a:ea typeface="Arial"/>
                <a:cs typeface="Arial"/>
              </a:rPr>
              <a:t>API REST com Java, Spring Boot e PostgreSQL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02421-5B30-4D5A-9721-807DEF8E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FC9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FC9D7"/>
                </a:solidFill>
                <a:latin typeface="Arial"/>
                <a:ea typeface="Arial"/>
                <a:cs typeface="Arial"/>
              </a:rPr>
              <a:t>API REST, interface web e persistência PostgreSQL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8E34B-AA14-4851-8EC0-2E5B4265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400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Alex de Souza Oliveira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Eduarda Paes de Barros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Antonio Vinicius de Vasconcelos Paixão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Filipe de Carvalho Teotônio</a:t>
            </a:r>
          </a:p>
        </p:txBody>
      </p:sp>
    </p:spTree>
    <p:extLst>
      <p:ext uri="{BB962C8B-B14F-4D97-AF65-F5344CB8AC3E}">
        <p14:creationId xmlns:p14="http://schemas.microsoft.com/office/powerpoint/2010/main" val="18546672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A3894-4490-4521-BDC1-B41BCC8F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Problema e objetivo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F6CFF-A59F-4730-947A-7043FBBA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D9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D9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291D7-7F0A-4BF5-B7AE-5B0B6A44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38250"/>
            <a:ext cx="676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Informações escolares dispersas dificultam cadastro, consulta e manutenção dos registros.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5CE99-D315-466A-98E3-9E849C81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7D9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D9A"/>
                </a:solidFill>
                <a:latin typeface="Arial"/>
                <a:ea typeface="Arial"/>
                <a:cs typeface="Arial"/>
              </a:rPr>
              <a:t>O sistema centraliza seis recursos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20180-1F77-42C7-8653-BF74F54D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29000"/>
            <a:ext cx="2571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Alunos</a:t>
            </a:r>
          </a:p>
          <a:p xmlns:a="http://schemas.openxmlformats.org/drawingml/2006/main">
            <a:pPr>
              <a:defRPr sz="18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Professores</a:t>
            </a:r>
          </a:p>
          <a:p xmlns:a="http://schemas.openxmlformats.org/drawingml/2006/main">
            <a:pPr>
              <a:defRPr sz="18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Disciplinas</a:t>
            </a:r>
          </a:p>
          <a:p xmlns:a="http://schemas.openxmlformats.org/drawingml/2006/main">
            <a:pPr>
              <a:defRPr sz="18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Turmas</a:t>
            </a:r>
          </a:p>
          <a:p xmlns:a="http://schemas.openxmlformats.org/drawingml/2006/main">
            <a:pPr>
              <a:defRPr sz="18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Matrículas</a:t>
            </a:r>
          </a:p>
          <a:p xmlns:a="http://schemas.openxmlformats.org/drawingml/2006/main">
            <a:pPr>
              <a:defRPr sz="18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Notas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A1A93-B86F-4DD0-A5B0-14AD7F44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619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6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Cada recurso possui CRUD. Turmas têm disciplina e professor; matrículas ligam alunos a turmas; notas pertencem às matrículas.</a:t>
            </a:r>
          </a:p>
        </p:txBody>
      </p:sp>
    </p:spTree>
    <p:extLst>
      <p:ext uri="{BB962C8B-B14F-4D97-AF65-F5344CB8AC3E}">
        <p14:creationId xmlns:p14="http://schemas.microsoft.com/office/powerpoint/2010/main" val="9046819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A2BE9-8F64-4EAE-A801-29DE9A88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Modelo de classes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E4CB2-1722-4BC3-9BCA-32E30B53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D9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D9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a8df79414465e"/>
          <a:stretch xmlns:a="http://schemas.openxmlformats.org/drawingml/2006/main"/>
        </p:blipFill>
        <p:spPr>
          <a:xfrm xmlns:a="http://schemas.openxmlformats.org/drawingml/2006/main">
            <a:off x="1463880" y="1047750"/>
            <a:ext cx="3644489" cy="5286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3ACE0-09D9-4559-92FD-748F1BF3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335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CB1A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CB1A1"/>
                </a:solidFill>
                <a:latin typeface="Arial"/>
                <a:ea typeface="Arial"/>
                <a:cs typeface="Arial"/>
              </a:rPr>
              <a:t>Domínio implementado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3DE44-1DC5-404C-A16D-94DB0CA4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476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Pessoa abstrata</a:t>
            </a:r>
          </a:p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Aluno e Professor</a:t>
            </a:r>
          </a:p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Disciplina</a:t>
            </a:r>
          </a:p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Turma</a:t>
            </a:r>
          </a:p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Matrícula</a:t>
            </a:r>
          </a:p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Nota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FF1B4-B099-4B7D-931C-3D3E42FE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0A3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0A34A"/>
                </a:solidFill>
                <a:latin typeface="Arial"/>
                <a:ea typeface="Arial"/>
                <a:cs typeface="Arial"/>
              </a:rPr>
              <a:t>Principais associações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EBE84-FF5F-49E3-BD6D-9EC624F3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05375"/>
            <a:ext cx="4476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Professor–Turma</a:t>
            </a:r>
          </a:p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Turma–Disciplina</a:t>
            </a:r>
          </a:p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Aluno–Matrícula–Turma</a:t>
            </a:r>
          </a:p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Matrícula–Nota</a:t>
            </a:r>
          </a:p>
        </p:txBody>
      </p:sp>
    </p:spTree>
    <p:extLst>
      <p:ext uri="{BB962C8B-B14F-4D97-AF65-F5344CB8AC3E}">
        <p14:creationId xmlns:p14="http://schemas.microsoft.com/office/powerpoint/2010/main" val="5526156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40348-A84D-4077-B736-80559FC7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Orientação a objetos no domínio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355E2-12B2-43A7-BDD7-571CB167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D9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D9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EC14B-A208-44AC-BC64-80D23FF7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CB1A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B1A1"/>
                </a:solidFill>
                <a:latin typeface="Arial"/>
                <a:ea typeface="Arial"/>
                <a:cs typeface="Arial"/>
              </a:rPr>
              <a:t>Herança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E8676-A7B5-4B42-AD23-6A03160C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19062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Aluno e Professor estendem Pessoa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3ECC2-D5BD-4D5B-8844-32E510BE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621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7D9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D9A"/>
                </a:solidFill>
                <a:latin typeface="Arial"/>
                <a:ea typeface="Arial"/>
                <a:cs typeface="Arial"/>
              </a:rPr>
              <a:t>Polimorfismo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3E2C2-D604-4054-A22B-465B1351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6217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exibirDados() possui implementações específicas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082C0-43C0-4933-B5F4-22EDC237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CB1A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B1A1"/>
                </a:solidFill>
                <a:latin typeface="Arial"/>
                <a:ea typeface="Arial"/>
                <a:cs typeface="Arial"/>
              </a:rPr>
              <a:t>Encapsulamento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1D565-E949-4B78-82D3-C7ACDB97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3372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atributos privados com acesso controlado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6D29C-20B0-423C-84B0-7182709D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7D9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D9A"/>
                </a:solidFill>
                <a:latin typeface="Arial"/>
                <a:ea typeface="Arial"/>
                <a:cs typeface="Arial"/>
              </a:rPr>
              <a:t>Associação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0AD22-C659-4577-86D2-F80DF954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0527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Turma referencia Disciplina com @ManyToOne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490ED-6784-4D76-9363-83750EBA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CB1A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B1A1"/>
                </a:solidFill>
                <a:latin typeface="Arial"/>
                <a:ea typeface="Arial"/>
                <a:cs typeface="Arial"/>
              </a:rPr>
              <a:t>Interfaces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4000D-7F30-43B2-854A-6D386DD4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7682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repositórios estendem JpaRepository</a:t>
            </a:r>
          </a:p>
        </p:txBody>
      </p:sp>
    </p:spTree>
    <p:extLst>
      <p:ext uri="{BB962C8B-B14F-4D97-AF65-F5344CB8AC3E}">
        <p14:creationId xmlns:p14="http://schemas.microsoft.com/office/powerpoint/2010/main" val="18671989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E7F255-81DA-491A-BFB1-7CF2B91D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Arquitetura da solução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B6453-D1F5-436D-8ABF-EF1E7062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D9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D9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084AB-82DE-4C0E-8050-AFA42FE6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CEC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Cliente</a:t>
            </a:r>
          </a:p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Site, Postman ou Insomnia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8C089-9F34-4921-BF47-A76D9206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14625"/>
            <a:ext cx="34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7D9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7D9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0BE39-3282-4955-B7DB-0DA4CF4B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33625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6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Controllers e DTOs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HTTP e validação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5533C-E6E6-4696-8D2B-B685ADDB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14625"/>
            <a:ext cx="34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7D9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7D9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7B7C4-C043-4C51-9B04-07F78ACE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333625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CEC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Serviços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Fluxo CRUD e transações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5F6E7-E177-43A1-987F-6BD8047D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14625"/>
            <a:ext cx="34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7D9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7D9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43194-7487-4E2E-A466-5A730259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33625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6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Repositórios JPA</a:t>
            </a:r>
          </a:p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Persistência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A6E929-120B-4B01-9720-A45E1318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714625"/>
            <a:ext cx="34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7D9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7D9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AE06B-FEA6-40D6-AC9A-F907218C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33625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Dados relacionais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4D7F7-D7C9-41AE-A8D9-5E8F132D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76750"/>
            <a:ext cx="619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EA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ControllerAdvice converte falhas em respostas 400, 404 e 409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FB639-28FA-48F9-89EA-81DAACF8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62625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Java 17  ·  Spring Boot 4.1  ·  Spring Data JPA  ·  Hibernate</a:t>
            </a:r>
          </a:p>
        </p:txBody>
      </p:sp>
    </p:spTree>
    <p:extLst>
      <p:ext uri="{BB962C8B-B14F-4D97-AF65-F5344CB8AC3E}">
        <p14:creationId xmlns:p14="http://schemas.microsoft.com/office/powerpoint/2010/main" val="4759348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389A7-CD24-40D9-A906-02BE2318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API e testes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3676A-C52A-4EB9-BDEB-FC7747AB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D9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D9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4E1C0-24EC-46BF-BD5C-68354242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7D9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7D9A"/>
                </a:solidFill>
                <a:latin typeface="Arial"/>
                <a:ea typeface="Arial"/>
                <a:cs typeface="Arial"/>
              </a:rPr>
              <a:t>Contrato HTTP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554E1-365A-4C13-9F05-B30E4F52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8575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AF6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GET     200</a:t>
            </a:r>
          </a:p>
          <a:p xmlns:a="http://schemas.openxmlformats.org/drawingml/2006/main">
            <a:pPr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POST    201</a:t>
            </a:r>
          </a:p>
          <a:p xmlns:a="http://schemas.openxmlformats.org/drawingml/2006/main">
            <a:pPr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PUT      200</a:t>
            </a:r>
          </a:p>
          <a:p xmlns:a="http://schemas.openxmlformats.org/drawingml/2006/main">
            <a:pPr>
              <a:defRPr sz="2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DELETE  204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E153E-A56B-4354-924B-9CB65EE8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906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Falhas previstas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4611C-D5B9-4A68-9AFF-7DC8CB7A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32385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EC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400  dados inválidos</a:t>
            </a:r>
          </a:p>
          <a:p xmlns:a="http://schemas.openxmlformats.org/drawingml/2006/main">
            <a:pPr>
              <a:defRPr sz="18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404  recurso inexistente</a:t>
            </a:r>
          </a:p>
          <a:p xmlns:a="http://schemas.openxmlformats.org/drawingml/2006/main">
            <a:pPr>
              <a:defRPr sz="18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409  conflito de integridade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44FC5-8A57-4355-A3A2-FFB56504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9062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CB1A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B1A1"/>
                </a:solidFill>
                <a:latin typeface="Arial"/>
                <a:ea typeface="Arial"/>
                <a:cs typeface="Arial"/>
              </a:rPr>
              <a:t>Cobertura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76FD7-2224-49B8-839E-23B97465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3143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7F4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15 testes aprovados</a:t>
            </a:r>
          </a:p>
          <a:p xmlns:a="http://schemas.openxmlformats.org/drawingml/2006/main">
            <a:pPr>
              <a:defRPr sz="18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7 repositórios JPA</a:t>
            </a:r>
          </a:p>
          <a:p xmlns:a="http://schemas.openxmlformats.org/drawingml/2006/main">
            <a:pPr>
              <a:defRPr sz="18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Coleção Postman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2C030-F200-44CB-84B0-56EC4795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6 APIs: alunos, professores, disciplinas, turmas, matrículas e notas</a:t>
            </a:r>
          </a:p>
        </p:txBody>
      </p:sp>
    </p:spTree>
    <p:extLst>
      <p:ext uri="{BB962C8B-B14F-4D97-AF65-F5344CB8AC3E}">
        <p14:creationId xmlns:p14="http://schemas.microsoft.com/office/powerpoint/2010/main" val="14452360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4ADEE-E515-46A6-BD86-BFB058CA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Dificuldades e soluções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20254-3D60-4E59-9E7D-DBA064C2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D9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D9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97F26-BF10-4CCE-9598-87F81B82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Porta 8080 ocupada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BC2DC-A675-4766-86A3-84AD4AB6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143000"/>
            <a:ext cx="695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Encerramento da execução antiga antes de reiniciar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FB564-5A48-4E60-BAF0-834D2888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2407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POST retornando 400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E55CC-52A0-4CC2-8C84-78C2CA35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24075"/>
            <a:ext cx="695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6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Content-Type application/json configurado manualmente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B4286-199A-407C-882A-AF4B8455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Integração com o banco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7CA04-ED0E-4A12-A58D-09FBD689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05150"/>
            <a:ext cx="695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Verificação do serviço, credenciais e log do HikariCP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28248-DE79-47ED-BEAD-B279DD73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862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Dados apagados ao reiniciar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CA659-B28E-47E7-8D25-FD4B761E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86225"/>
            <a:ext cx="695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6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Limitação identificada em ddl-auto: create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667DD1-3AF8-4FF6-A7F6-8A8B30A9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Erros inconsistentes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2F4F9-015F-4FF9-87F3-702D7013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67300"/>
            <a:ext cx="695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Tratamento centralizado com ControllerAdvice</a:t>
            </a:r>
          </a:p>
        </p:txBody>
      </p:sp>
    </p:spTree>
    <p:extLst>
      <p:ext uri="{BB962C8B-B14F-4D97-AF65-F5344CB8AC3E}">
        <p14:creationId xmlns:p14="http://schemas.microsoft.com/office/powerpoint/2010/main" val="7157406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CEF432-334F-4082-A453-7DA9D2C6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Demonstração do 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AA96F-36DF-4FD3-AA7E-1A4BDA6B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D9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D9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75912-6036-464F-BACB-0FC09BB4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9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A3AF3-5B34-46C1-A7DB-4F2BC4D9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1430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Abrir o site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C2713-CCF5-48CD-94FC-1B7B0DD2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1430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http://localhost:8080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BDDA8-952B-4A89-BE0B-52C37EEC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9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64623-754D-420E-89B4-47033B79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240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Criar base acadêmica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4623B-1C13-4324-A596-7A19988B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2407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Disciplina, professor, aluno e turma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0C45AA-C5B4-4091-AF27-DC13AA25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9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FAFD9-9EF4-4277-B85F-405A57F4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051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Realizar matrícula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D42E7-801F-469E-BF80-DACABC2F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051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Informar alunoId e turmaId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0FA13-E008-48D9-96CB-94BF2E66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862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9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146C71-B7F9-4D99-A429-7BAADE51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8622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Registrar nota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58198-F021-4C80-9C43-EF32E155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8622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Informar matrícula e valor de 0 a 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5B1800-246C-4B8D-9416-63457744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9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0DD378-EDC9-49E1-A2EB-A5FC035D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673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Mostrar validação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9A61DC-7240-4AFE-A8CD-29CBEFB8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673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Enviar nota maior que dez</a:t>
            </a:r>
          </a:p>
        </p:txBody>
      </p:sp>
    </p:spTree>
    <p:extLst>
      <p:ext uri="{BB962C8B-B14F-4D97-AF65-F5344CB8AC3E}">
        <p14:creationId xmlns:p14="http://schemas.microsoft.com/office/powerpoint/2010/main" val="20259975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2C249-339C-4528-A87C-6F2E6369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Resultados e próximos passos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C1572-AA62-44B5-A845-A7B28D15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D9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D9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46E79-8365-4A40-BF8C-11166478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CB1A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B1A1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FA62F-7248-4F17-A04F-B78DFC36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Interface web e API CRUD para seis recursos, persistência PostgreSQL, validação e testes.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5F10C-72F2-4795-9539-F401E82C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85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0A3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0A34A"/>
                </a:solidFill>
                <a:latin typeface="Arial"/>
                <a:ea typeface="Arial"/>
                <a:cs typeface="Arial"/>
              </a:rPr>
              <a:t>Próximos passos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92012-CCE2-4138-9608-82F1D928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57375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Adicionar edição no site</a:t>
            </a:r>
          </a:p>
          <a:p xmlns:a="http://schemas.openxmlformats.org/drawingml/2006/main">
            <a:pPr>
              <a:defRPr sz="18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Versionar o banco com migrations</a:t>
            </a:r>
          </a:p>
          <a:p xmlns:a="http://schemas.openxmlformats.org/drawingml/2006/main">
            <a:pPr>
              <a:defRPr sz="18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Remover credenciais fixas</a:t>
            </a:r>
          </a:p>
          <a:p xmlns:a="http://schemas.openxmlformats.org/drawingml/2006/main">
            <a:pPr>
              <a:defRPr sz="18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Adicionar autenticação</a:t>
            </a:r>
          </a:p>
          <a:p xmlns:a="http://schemas.openxmlformats.org/drawingml/2006/main">
            <a:pPr>
              <a:defRPr sz="18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Documentar com OpenAPI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9B9D8-DD59-4D39-B7B2-96F54B41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91125"/>
            <a:ext cx="99060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Aprendizados: modelagem OO, arquitetura em camadas, contratos HTTP, persistência e diagnóstico por logs</a:t>
            </a:r>
          </a:p>
        </p:txBody>
      </p:sp>
    </p:spTree>
    <p:extLst>
      <p:ext uri="{BB962C8B-B14F-4D97-AF65-F5344CB8AC3E}">
        <p14:creationId xmlns:p14="http://schemas.microsoft.com/office/powerpoint/2010/main" val="11552458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A040E2-87AC-4061-B1CE-61423842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 MINUTOS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PARTICIPANTES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D10E0-8A80-4F75-A930-90B96348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52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CB1A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B1A1"/>
                </a:solidFill>
                <a:latin typeface="Arial"/>
                <a:ea typeface="Arial"/>
                <a:cs typeface="Arial"/>
              </a:rPr>
              <a:t>Alex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BE8A7-5753-443D-BD35-E7ECF00F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527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abertura, problema e objetivo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A7E1F-A98F-48CD-872F-5189D019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718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CB1A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B1A1"/>
                </a:solidFill>
                <a:latin typeface="Arial"/>
                <a:ea typeface="Arial"/>
                <a:cs typeface="Arial"/>
              </a:rPr>
              <a:t>Eduarda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6A2F3-815D-4A09-BD32-EE1891F5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718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modelo de classes e orientação a objetos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CA7DC-9479-4277-9F3A-88D86045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CB1A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B1A1"/>
                </a:solidFill>
                <a:latin typeface="Arial"/>
                <a:ea typeface="Arial"/>
                <a:cs typeface="Arial"/>
              </a:rPr>
              <a:t>Antonio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300EE-3271-4D5A-A24D-8ACC1BFA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910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arquitetura, API, testes e dificuldades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52B3D-E35E-4782-868C-1F3C9EEA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CB1A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B1A1"/>
                </a:solidFill>
                <a:latin typeface="Arial"/>
                <a:ea typeface="Arial"/>
                <a:cs typeface="Arial"/>
              </a:rPr>
              <a:t>Filipe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52AAF-3834-4526-9316-30B629DC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101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demonstração, resultados e encerramento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EFCAA-A577-4430-9D3C-BABCA956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717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A34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0A34A"/>
                </a:solidFill>
                <a:latin typeface="Arial"/>
                <a:ea typeface="Arial"/>
                <a:cs typeface="Arial"/>
              </a:rPr>
              <a:t>Obrigado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8F100-3CE8-4279-87DC-B67A2239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71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Perguntas?</a:t>
            </a:r>
          </a:p>
        </p:txBody>
      </p:sp>
    </p:spTree>
    <p:extLst>
      <p:ext uri="{BB962C8B-B14F-4D97-AF65-F5344CB8AC3E}">
        <p14:creationId xmlns:p14="http://schemas.microsoft.com/office/powerpoint/2010/main" val="1417599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2026-09-04T18:18:12.5660000Z</dcterms:created>
  <dcterms:modified xsi:type="dcterms:W3CDTF">2026-09-04T18:18:12.5660000Z</dcterms:modified>
</coreProperties>
</file>